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45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jp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EFEFE">
                  <a:alpha val="9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1066799"/>
            <a:ext cx="1895427" cy="342900"/>
          </a:xfrm>
          <a:prstGeom prst="roundRect">
            <a:avLst>
              <a:gd name="adj" fmla="val 22222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733" y="1066799"/>
            <a:ext cx="189542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</a:rPr>
              <a:t>Graduation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714500"/>
            <a:ext cx="6457788" cy="2000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1284BA"/>
                </a:solidFill>
                <a:latin typeface="Source Code Pro"/>
              </a:rPr>
              <a:t> Sign Language</a:t>
            </a:r>
            <a:r>
              <a:rPr sz="1104"/>
              <a:t>
</a:t>
            </a:r>
            <a:r>
              <a:rPr sz="3348" b="1">
                <a:solidFill>
                  <a:srgbClr val="1284BA"/>
                </a:solidFill>
                <a:latin typeface="Source Code Pro"/>
              </a:rPr>
              <a:t> Detection System</a:t>
            </a:r>
            <a:r>
              <a:rPr sz="1104"/>
              <a:t>
</a:t>
            </a:r>
            <a:r>
              <a:rPr sz="3348" b="1">
                <a:solidFill>
                  <a:srgbClr val="1284BA"/>
                </a:solidFill>
                <a:latin typeface="Source Code Pro"/>
              </a:rPr>
              <a:t> </a:t>
            </a:r>
            <a:r>
              <a:rPr sz="2870" b="1">
                <a:solidFill>
                  <a:srgbClr val="1284BA"/>
                </a:solidFill>
                <a:latin typeface="Source Code Pro"/>
              </a:rPr>
              <a:t>Using AI</a:t>
            </a:r>
            <a:r>
              <a:rPr sz="3348" b="1">
                <a:solidFill>
                  <a:srgbClr val="1284BA"/>
                </a:solidFill>
                <a:latin typeface="Source Code Pro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3943350"/>
            <a:ext cx="645778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Computer Vision &amp; Machine Learning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4686300"/>
            <a:ext cx="761980" cy="57150"/>
          </a:xfrm>
          <a:prstGeom prst="roundRect">
            <a:avLst>
              <a:gd name="adj" fmla="val 133333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5166154"/>
            <a:ext cx="209544" cy="1642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5124449"/>
            <a:ext cx="133346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 Flex"/>
              </a:rPr>
              <a:t>Jadara University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5572511"/>
            <a:ext cx="209544" cy="1897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575" y="5534025"/>
            <a:ext cx="261930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Roboto Flex"/>
              </a:rPr>
              <a:t>Faculty of Information 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5512" y="1600200"/>
            <a:ext cx="4019449" cy="1047749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7047678" y="2058034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2205" y="1860232"/>
            <a:ext cx="228594" cy="1657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15097" y="1847849"/>
            <a:ext cx="81912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Roboto Flex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205" y="2107421"/>
            <a:ext cx="1492653" cy="33810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1F2937"/>
                </a:solidFill>
                <a:latin typeface="Roboto Flex"/>
              </a:rPr>
              <a:t>Dr.</a:t>
            </a:r>
            <a:r>
              <a:rPr lang="ar-JO" sz="1196" b="1" dirty="0">
                <a:solidFill>
                  <a:srgbClr val="1F2937"/>
                </a:solidFill>
                <a:latin typeface="Roboto Flex"/>
              </a:rPr>
              <a:t> </a:t>
            </a:r>
            <a:r>
              <a:rPr lang="en-US" sz="1196" b="1" dirty="0">
                <a:solidFill>
                  <a:srgbClr val="1F2937"/>
                </a:solidFill>
                <a:latin typeface="Roboto Flex"/>
              </a:rPr>
              <a:t>Marah </a:t>
            </a:r>
            <a:r>
              <a:rPr lang="en-US" sz="1196" b="1" dirty="0" err="1">
                <a:solidFill>
                  <a:srgbClr val="1F2937"/>
                </a:solidFill>
                <a:latin typeface="Roboto Flex"/>
              </a:rPr>
              <a:t>Qassas</a:t>
            </a:r>
            <a:endParaRPr sz="1196" b="1" dirty="0">
              <a:solidFill>
                <a:srgbClr val="1F2937"/>
              </a:solidFill>
              <a:latin typeface="Roboto Flex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05512" y="2838450"/>
            <a:ext cx="4019449" cy="2409825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6366640" y="3977322"/>
            <a:ext cx="2409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2205" y="3118485"/>
            <a:ext cx="228594" cy="1257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15097" y="3086100"/>
            <a:ext cx="106677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Roboto Flex"/>
              </a:rPr>
              <a:t>TEAM MEMBERS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205" y="35242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43651" y="3418965"/>
            <a:ext cx="846642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dirty="0">
                <a:solidFill>
                  <a:srgbClr val="1F2937"/>
                </a:solidFill>
                <a:latin typeface="Roboto Flex"/>
              </a:rPr>
              <a:t>L</a:t>
            </a:r>
            <a:r>
              <a:rPr lang="en-US" sz="1076" b="0" dirty="0">
                <a:solidFill>
                  <a:srgbClr val="1F2937"/>
                </a:solidFill>
                <a:latin typeface="Roboto Flex"/>
              </a:rPr>
              <a:t>oay </a:t>
            </a:r>
            <a:r>
              <a:rPr lang="en-US" sz="1076" dirty="0">
                <a:solidFill>
                  <a:srgbClr val="1F2937"/>
                </a:solidFill>
                <a:latin typeface="Roboto Flex"/>
              </a:rPr>
              <a:t>A</a:t>
            </a:r>
            <a:r>
              <a:rPr lang="en-US" sz="1076" b="0" dirty="0">
                <a:solidFill>
                  <a:srgbClr val="1F2937"/>
                </a:solidFill>
                <a:latin typeface="Roboto Flex"/>
              </a:rPr>
              <a:t>latar</a:t>
            </a:r>
            <a:endParaRPr sz="1076" b="0" dirty="0">
              <a:solidFill>
                <a:srgbClr val="1F2937"/>
              </a:solidFill>
              <a:latin typeface="Roboto Flex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43651" y="3679868"/>
            <a:ext cx="849848" cy="26026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6B7280"/>
                </a:solidFill>
                <a:latin typeface="Roboto Flex"/>
              </a:rPr>
              <a:t>ID: 202210</a:t>
            </a:r>
            <a:r>
              <a:rPr lang="ar-JO" sz="837" b="0" dirty="0">
                <a:solidFill>
                  <a:srgbClr val="6B7280"/>
                </a:solidFill>
                <a:latin typeface="Roboto Flex"/>
              </a:rPr>
              <a:t>8</a:t>
            </a:r>
            <a:r>
              <a:rPr lang="ar-JO" sz="837" dirty="0">
                <a:solidFill>
                  <a:srgbClr val="6B7280"/>
                </a:solidFill>
                <a:latin typeface="Roboto Flex"/>
              </a:rPr>
              <a:t>43</a:t>
            </a:r>
            <a:endParaRPr sz="837" b="0" dirty="0">
              <a:solidFill>
                <a:srgbClr val="6B7280"/>
              </a:solidFill>
              <a:latin typeface="Roboto Flex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205" y="409574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43651" y="3990465"/>
            <a:ext cx="1290674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dirty="0">
                <a:solidFill>
                  <a:srgbClr val="1F2937"/>
                </a:solidFill>
                <a:latin typeface="Roboto Flex"/>
              </a:rPr>
              <a:t>Asaad Abo </a:t>
            </a:r>
            <a:r>
              <a:rPr lang="en-US" sz="1076" dirty="0" err="1">
                <a:solidFill>
                  <a:srgbClr val="1F2937"/>
                </a:solidFill>
                <a:latin typeface="Roboto Flex"/>
              </a:rPr>
              <a:t>Ateyeh</a:t>
            </a:r>
            <a:endParaRPr sz="1076" b="0" dirty="0">
              <a:solidFill>
                <a:srgbClr val="1F2937"/>
              </a:solidFill>
              <a:latin typeface="Roboto Flex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43651" y="4232317"/>
            <a:ext cx="849848" cy="26026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6B7280"/>
                </a:solidFill>
                <a:latin typeface="Roboto Flex"/>
              </a:rPr>
              <a:t>ID: </a:t>
            </a:r>
            <a:r>
              <a:rPr lang="ar-JO" sz="837" dirty="0">
                <a:solidFill>
                  <a:srgbClr val="6B7280"/>
                </a:solidFill>
                <a:latin typeface="Roboto Flex"/>
              </a:rPr>
              <a:t>202120257</a:t>
            </a:r>
            <a:endParaRPr sz="837" b="0" dirty="0">
              <a:solidFill>
                <a:srgbClr val="6B7280"/>
              </a:solidFill>
              <a:latin typeface="Roboto Flex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205" y="46482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43651" y="4542916"/>
            <a:ext cx="737638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6" dirty="0">
                <a:solidFill>
                  <a:srgbClr val="1F2937"/>
                </a:solidFill>
                <a:latin typeface="Roboto Flex"/>
              </a:rPr>
              <a:t>Alaa Asfa</a:t>
            </a:r>
            <a:endParaRPr sz="1076" b="0" dirty="0">
              <a:solidFill>
                <a:srgbClr val="1F2937"/>
              </a:solidFill>
              <a:latin typeface="Roboto Flex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43651" y="4803817"/>
            <a:ext cx="849848" cy="26026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6B7280"/>
                </a:solidFill>
                <a:latin typeface="Roboto Flex"/>
              </a:rPr>
              <a:t>ID: 20</a:t>
            </a:r>
            <a:r>
              <a:rPr lang="en-US" sz="837" b="0" dirty="0">
                <a:solidFill>
                  <a:srgbClr val="6B7280"/>
                </a:solidFill>
                <a:latin typeface="Roboto Flex"/>
              </a:rPr>
              <a:t>2110530</a:t>
            </a:r>
            <a:endParaRPr sz="837" b="0" dirty="0">
              <a:solidFill>
                <a:srgbClr val="6B7280"/>
              </a:solidFill>
              <a:latin typeface="Roboto Flex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284BA"/>
              </a:gs>
              <a:gs pos="50000">
                <a:srgbClr val="FF862F"/>
              </a:gs>
              <a:gs pos="100000">
                <a:srgbClr val="1284BA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80047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The Communication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954577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6278" y="926002"/>
            <a:ext cx="163825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The Barrier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26" y="1449878"/>
            <a:ext cx="5714857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374151"/>
                </a:solidFill>
                <a:latin typeface="Roboto Flex"/>
              </a:rPr>
              <a:t> Deaf and mute individuals rely on </a:t>
            </a:r>
            <a:r>
              <a:rPr sz="1315" b="1" dirty="0">
                <a:solidFill>
                  <a:srgbClr val="FF862F"/>
                </a:solidFill>
                <a:latin typeface="Roboto Flex"/>
              </a:rPr>
              <a:t>sign language</a:t>
            </a:r>
            <a:r>
              <a:rPr sz="1315" b="0" dirty="0">
                <a:solidFill>
                  <a:srgbClr val="374151"/>
                </a:solidFill>
                <a:latin typeface="Roboto Flex"/>
              </a:rPr>
              <a:t>, which the majority of society does not understand.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36942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6278" y="2508367"/>
            <a:ext cx="178113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Consequences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3426" y="3074824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3022717"/>
            <a:ext cx="273360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Social isolation and exclusion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3515775"/>
            <a:ext cx="190495" cy="1568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3460866"/>
            <a:ext cx="501002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Difficulties in education, healthcare, and daily services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3934875"/>
            <a:ext cx="190495" cy="1568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8219" y="3879967"/>
            <a:ext cx="355273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Misunderstandings and discrimination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497016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6278" y="4468441"/>
            <a:ext cx="49052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Limitations of Existing Solutions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5040501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8219" y="4982791"/>
            <a:ext cx="224784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Expensive sensor gloves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5473048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8219" y="5420941"/>
            <a:ext cx="212402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Uncomfortable to wear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5898961"/>
            <a:ext cx="190495" cy="1820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8219" y="5840041"/>
            <a:ext cx="339081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Require maintenance and calibration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6363550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6278191"/>
            <a:ext cx="2952676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Restrict natural hand movement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017" y="1543050"/>
            <a:ext cx="4209944" cy="523874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017" y="6067424"/>
            <a:ext cx="4209944" cy="71437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611" y="6296024"/>
            <a:ext cx="375275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</a:rPr>
              <a:t>"Their eyes are ears, their hands are mouths."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342891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Goals &amp; Purpose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38112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515717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381124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Improve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182880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Real-time translation of hand gestures into readable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44792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2611506"/>
            <a:ext cx="266693" cy="168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447924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Social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16" y="2895600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Enable deaf/mute individuals to express needs and emotions effectively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2905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3952046"/>
            <a:ext cx="266693" cy="249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82905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Accessibility &amp; Equality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16" y="4276725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Affordable tech-based solution without specialized hardware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521017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842" y="5324474"/>
            <a:ext cx="219069" cy="2666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5210174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User-Friendly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2516" y="5657850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Easy-to-use desktop interface with low computational costs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9194" y="1219200"/>
            <a:ext cx="5295767" cy="523874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9194" y="5734050"/>
            <a:ext cx="5295767" cy="71437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611" y="5962650"/>
            <a:ext cx="375275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  <a:latin typeface="Roboto Flex"/>
              </a:rPr>
              <a:t>Bridging gaps, connecting lives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777220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Proposed Solution: Camera-Based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6682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442002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228725"/>
            <a:ext cx="47433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Camera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1571625"/>
            <a:ext cx="474333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Standard webcam captures live video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243" y="1409699"/>
            <a:ext cx="2476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Source Code Pr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22885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820" y="2343150"/>
            <a:ext cx="201113" cy="2666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2516" y="2047874"/>
            <a:ext cx="47433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Hand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16" y="2390774"/>
            <a:ext cx="474333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System detects hands and extracts landmarks (key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243" y="2371725"/>
            <a:ext cx="2476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Source Code Pr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19087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3334164"/>
            <a:ext cx="266693" cy="20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52516" y="3152775"/>
            <a:ext cx="47433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ML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3495675"/>
            <a:ext cx="474333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Machine Learning model classifies the gesture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243" y="3333749"/>
            <a:ext cx="2476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Source Code Pro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01002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30" y="4167808"/>
            <a:ext cx="266693" cy="1797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52516" y="3971925"/>
            <a:ext cx="47433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Display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4309967"/>
            <a:ext cx="3735959" cy="29546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1200" dirty="0"/>
              <a:t>System displays the extracted words as text in a text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243" y="4152899"/>
            <a:ext cx="2476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862F"/>
                </a:solidFill>
                <a:latin typeface="Source Code Pro"/>
              </a:rPr>
              <a:t>04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426" y="5163282"/>
            <a:ext cx="304792" cy="246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0615" y="5133975"/>
            <a:ext cx="502907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284BA"/>
                </a:solidFill>
                <a:latin typeface="Source Code Pro"/>
              </a:rPr>
              <a:t>Key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15" y="5524499"/>
            <a:ext cx="5029074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Eliminates need for physical sensors — </a:t>
            </a:r>
            <a:r>
              <a:rPr sz="1315" b="1">
                <a:solidFill>
                  <a:srgbClr val="FF862F"/>
                </a:solidFill>
                <a:latin typeface="Roboto Flex"/>
              </a:rPr>
              <a:t>cost-effective and portable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017" y="1219200"/>
            <a:ext cx="4209944" cy="523874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017" y="5467349"/>
            <a:ext cx="4209944" cy="981074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611" y="5695949"/>
            <a:ext cx="3752756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</a:rPr>
              <a:t>Real-Time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611" y="6000750"/>
            <a:ext cx="375275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</a:rPr>
              <a:t>Camera-based AI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4114697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Tools &amp; Algorithms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60020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775377"/>
            <a:ext cx="266693" cy="144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60020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Programming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2032382"/>
            <a:ext cx="1192891" cy="3738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74151"/>
                </a:solidFill>
                <a:latin typeface="Roboto Flex"/>
              </a:rPr>
              <a:t>Python</a:t>
            </a:r>
            <a:r>
              <a:rPr lang="ar-JO" sz="1435" b="0" dirty="0">
                <a:solidFill>
                  <a:srgbClr val="374151"/>
                </a:solidFill>
                <a:latin typeface="Roboto Flex"/>
              </a:rPr>
              <a:t> </a:t>
            </a:r>
            <a:r>
              <a:rPr lang="en-US" sz="1435" b="0" dirty="0">
                <a:solidFill>
                  <a:srgbClr val="374151"/>
                </a:solidFill>
                <a:latin typeface="Roboto Flex"/>
              </a:rPr>
              <a:t>,SQL</a:t>
            </a:r>
            <a:endParaRPr sz="1435" b="0" dirty="0">
              <a:solidFill>
                <a:srgbClr val="374151"/>
              </a:solidFill>
              <a:latin typeface="Roboto Flex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6733" y="2619374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2794552"/>
            <a:ext cx="266693" cy="144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619374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16" y="306705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Roboto Flex"/>
              </a:rPr>
              <a:t>OpenCV: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Video capture &amp; image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16" y="3419474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Roboto Flex"/>
              </a:rPr>
              <a:t>MediaPipe Hands: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21 hand landmarks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96239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410568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396239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4410074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Roboto Flex"/>
              </a:rPr>
              <a:t>Scikit-learn: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ML classification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476250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1">
                <a:solidFill>
                  <a:srgbClr val="FF862F"/>
                </a:solidFill>
                <a:latin typeface="Roboto Flex"/>
              </a:rPr>
              <a:t>Random Forest: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High accuracy gesture 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5305425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30" y="5440017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52516" y="5305425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User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2516" y="5753099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284BA"/>
                </a:solidFill>
                <a:latin typeface="Roboto Flex"/>
              </a:rPr>
              <a:t>Tkinter: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Desktop GUI (Login, Menu, Training)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194" y="1920322"/>
            <a:ext cx="5295767" cy="4537627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274313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05740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2200689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205740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245745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Live video feed from device camera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04799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318259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304799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14" y="3600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159" y="3562349"/>
            <a:ext cx="153348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 Flex"/>
              </a:rPr>
              <a:t>Hand Detection: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1745" y="3562349"/>
            <a:ext cx="239071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Roboto Flex"/>
              </a:rPr>
              <a:t>MediaPipe identifies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8714" y="400050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159" y="3962399"/>
            <a:ext cx="178113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 Flex"/>
              </a:rPr>
              <a:t>Feature Extraction: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389" y="3962399"/>
            <a:ext cx="277170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Roboto Flex"/>
              </a:rPr>
              <a:t>21 x,y coordinates normalized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714" y="43814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0159" y="4343400"/>
            <a:ext cx="13429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F2937"/>
                </a:solidFill>
                <a:latin typeface="Roboto Flex"/>
              </a:rPr>
              <a:t>Classification: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1250" y="4343400"/>
            <a:ext cx="296220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Roboto Flex"/>
              </a:rPr>
              <a:t>Random Forest predicts gesture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489584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5053633"/>
            <a:ext cx="266693" cy="1797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2516" y="489584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2516" y="5295899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Display predicted text with bounding 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017" y="1219200"/>
            <a:ext cx="4209944" cy="523874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017" y="5924549"/>
            <a:ext cx="4209944" cy="5333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67413" y="6076950"/>
            <a:ext cx="39051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Real-Time Processing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7119"/>
            <a:ext cx="3465949" cy="5658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</a:pPr>
            <a:r>
              <a:rPr sz="2392" b="1" dirty="0">
                <a:solidFill>
                  <a:srgbClr val="1284BA"/>
                </a:solidFill>
                <a:latin typeface="Source Code Pro"/>
              </a:rPr>
              <a:t>Core Functionality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704975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820" y="1819275"/>
            <a:ext cx="201113" cy="26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704975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 dirty="0">
                <a:solidFill>
                  <a:srgbClr val="1284BA"/>
                </a:solidFill>
                <a:latin typeface="Source Code Pro"/>
              </a:rPr>
              <a:t>Landmark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2152650"/>
            <a:ext cx="5295767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MediaPipe uses palm detector + landmark model to track </a:t>
            </a:r>
            <a:r>
              <a:rPr sz="1315" b="1">
                <a:solidFill>
                  <a:srgbClr val="FF862F"/>
                </a:solidFill>
                <a:latin typeface="Roboto Flex"/>
              </a:rPr>
              <a:t>21 key 3D points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on 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10514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3233944"/>
            <a:ext cx="266693" cy="2377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310514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Stability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16" y="3543300"/>
            <a:ext cx="5295767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Smoothing technique with prediction buffering prevents flickering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49579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4628942"/>
            <a:ext cx="266693" cy="2290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449579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Training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16" y="4943475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Users add new gestures via 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5295899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Automatic data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5648325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Feature extraction &amp; model retraining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5367" y="1219200"/>
            <a:ext cx="4949594" cy="523874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75367" y="5924549"/>
            <a:ext cx="4949594" cy="5333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7413" y="6076950"/>
            <a:ext cx="39051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  <a:latin typeface="Roboto Flex"/>
              </a:rPr>
              <a:t>21 Hand Landmarks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286B058D-C758-BB9D-E33D-1394BB2F75DE}"/>
              </a:ext>
            </a:extLst>
          </p:cNvPr>
          <p:cNvSpPr/>
          <p:nvPr/>
        </p:nvSpPr>
        <p:spPr>
          <a:xfrm>
            <a:off x="866753" y="80390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65E73-DA67-F442-576E-66FB3FF41947}"/>
              </a:ext>
            </a:extLst>
          </p:cNvPr>
          <p:cNvSpPr txBox="1"/>
          <p:nvPr/>
        </p:nvSpPr>
        <p:spPr>
          <a:xfrm>
            <a:off x="866753" y="803909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3C626-5B33-AD74-E324-A45C11E1927D}"/>
              </a:ext>
            </a:extLst>
          </p:cNvPr>
          <p:cNvSpPr txBox="1"/>
          <p:nvPr/>
        </p:nvSpPr>
        <p:spPr>
          <a:xfrm>
            <a:off x="1285842" y="750179"/>
            <a:ext cx="1951112" cy="4027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535"/>
              </a:lnSpc>
            </a:pPr>
            <a:r>
              <a:rPr lang="en-US" sz="1554" b="1" dirty="0">
                <a:solidFill>
                  <a:srgbClr val="1284BA"/>
                </a:solidFill>
                <a:latin typeface="Source Code Pro"/>
              </a:rPr>
              <a:t>Login Interface</a:t>
            </a:r>
            <a:endParaRPr sz="1554" b="1" dirty="0">
              <a:latin typeface="Roboto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84F1068-8A44-8FB5-84B3-CB63BC2184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6738" y="867727"/>
            <a:ext cx="228594" cy="177164"/>
          </a:xfrm>
          <a:prstGeom prst="rect">
            <a:avLst/>
          </a:prstGeom>
        </p:spPr>
      </p:pic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1FD7678D-66D1-425D-D9CB-65E209035FBD}"/>
              </a:ext>
            </a:extLst>
          </p:cNvPr>
          <p:cNvSpPr/>
          <p:nvPr/>
        </p:nvSpPr>
        <p:spPr>
          <a:xfrm>
            <a:off x="866753" y="1251585"/>
            <a:ext cx="4838579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5F96D-F44A-AF98-6652-33AFE567C4AA}"/>
              </a:ext>
            </a:extLst>
          </p:cNvPr>
          <p:cNvSpPr/>
          <p:nvPr/>
        </p:nvSpPr>
        <p:spPr>
          <a:xfrm>
            <a:off x="876278" y="1261109"/>
            <a:ext cx="4819529" cy="2095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8FF83-1337-3ECD-844E-886FD60BBF61}"/>
              </a:ext>
            </a:extLst>
          </p:cNvPr>
          <p:cNvSpPr txBox="1"/>
          <p:nvPr/>
        </p:nvSpPr>
        <p:spPr>
          <a:xfrm>
            <a:off x="666733" y="87311"/>
            <a:ext cx="4940712" cy="5651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</a:pPr>
            <a:r>
              <a:rPr lang="en-US" sz="2392" b="1" dirty="0">
                <a:solidFill>
                  <a:srgbClr val="1284BA"/>
                </a:solidFill>
                <a:latin typeface="Source Code Pro"/>
              </a:rPr>
              <a:t>System Interface Showcase </a:t>
            </a:r>
            <a:endParaRPr sz="2392" b="1" dirty="0">
              <a:latin typeface="Roboto"/>
            </a:endParaRPr>
          </a:p>
        </p:txBody>
      </p:sp>
      <p:sp>
        <p:nvSpPr>
          <p:cNvPr id="12" name="Rounded Rectangle 19">
            <a:extLst>
              <a:ext uri="{FF2B5EF4-FFF2-40B4-BE49-F238E27FC236}">
                <a16:creationId xmlns:a16="http://schemas.microsoft.com/office/drawing/2014/main" id="{E30EA15C-BB3E-2E21-2042-F67867C4549D}"/>
              </a:ext>
            </a:extLst>
          </p:cNvPr>
          <p:cNvSpPr/>
          <p:nvPr/>
        </p:nvSpPr>
        <p:spPr>
          <a:xfrm>
            <a:off x="6286650" y="704157"/>
            <a:ext cx="5229094" cy="3000375"/>
          </a:xfrm>
          <a:prstGeom prst="roundRect">
            <a:avLst>
              <a:gd name="adj" fmla="val 5079"/>
            </a:avLst>
          </a:prstGeom>
          <a:solidFill>
            <a:srgbClr val="FFFFFF">
              <a:alpha val="5000"/>
            </a:srgbClr>
          </a:solidFill>
          <a:ln w="8255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10569459-0FEB-E9A6-CC17-B028B00E3FEC}"/>
              </a:ext>
            </a:extLst>
          </p:cNvPr>
          <p:cNvSpPr/>
          <p:nvPr/>
        </p:nvSpPr>
        <p:spPr>
          <a:xfrm>
            <a:off x="6495887" y="9119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1E9FC4-1AD6-9448-3E45-EEBB1963A5B0}"/>
              </a:ext>
            </a:extLst>
          </p:cNvPr>
          <p:cNvSpPr txBox="1"/>
          <p:nvPr/>
        </p:nvSpPr>
        <p:spPr>
          <a:xfrm>
            <a:off x="6494425" y="886866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6" b="1" dirty="0">
                <a:solidFill>
                  <a:srgbClr val="FFFFFF"/>
                </a:solidFill>
                <a:latin typeface="Roboto"/>
              </a:rPr>
              <a:t>03</a:t>
            </a:r>
            <a:endParaRPr sz="956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B6968C-76D3-778E-D3F8-D029D9143C89}"/>
              </a:ext>
            </a:extLst>
          </p:cNvPr>
          <p:cNvSpPr txBox="1"/>
          <p:nvPr/>
        </p:nvSpPr>
        <p:spPr>
          <a:xfrm>
            <a:off x="6822084" y="686325"/>
            <a:ext cx="2246064" cy="5389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</a:pPr>
            <a:r>
              <a:rPr lang="en-US" sz="1600" b="1" dirty="0">
                <a:solidFill>
                  <a:srgbClr val="1284BA"/>
                </a:solidFill>
                <a:latin typeface="Source Code Pro"/>
              </a:rPr>
              <a:t>Training Progress</a:t>
            </a:r>
            <a:endParaRPr lang="en-US" sz="1600" b="1" dirty="0">
              <a:latin typeface="Roboto"/>
            </a:endParaRP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6315C37C-0BFE-434A-ACC9-0A7FAB77A6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6347" y="955790"/>
            <a:ext cx="228594" cy="217170"/>
          </a:xfrm>
          <a:prstGeom prst="rect">
            <a:avLst/>
          </a:prstGeom>
        </p:spPr>
      </p:pic>
      <p:sp>
        <p:nvSpPr>
          <p:cNvPr id="17" name="Rounded Rectangle 24">
            <a:extLst>
              <a:ext uri="{FF2B5EF4-FFF2-40B4-BE49-F238E27FC236}">
                <a16:creationId xmlns:a16="http://schemas.microsoft.com/office/drawing/2014/main" id="{C0092106-A00B-9CCC-3B08-22B99A4F233B}"/>
              </a:ext>
            </a:extLst>
          </p:cNvPr>
          <p:cNvSpPr/>
          <p:nvPr/>
        </p:nvSpPr>
        <p:spPr>
          <a:xfrm>
            <a:off x="6495887" y="1359651"/>
            <a:ext cx="4829054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D493EA-6C8F-C799-58A9-9F3111FD9CCC}"/>
              </a:ext>
            </a:extLst>
          </p:cNvPr>
          <p:cNvSpPr/>
          <p:nvPr/>
        </p:nvSpPr>
        <p:spPr>
          <a:xfrm>
            <a:off x="6505412" y="1369175"/>
            <a:ext cx="4810004" cy="2095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1">
            <a:extLst>
              <a:ext uri="{FF2B5EF4-FFF2-40B4-BE49-F238E27FC236}">
                <a16:creationId xmlns:a16="http://schemas.microsoft.com/office/drawing/2014/main" id="{03F6D54C-450F-9010-C598-586DD9EBDAE9}"/>
              </a:ext>
            </a:extLst>
          </p:cNvPr>
          <p:cNvSpPr/>
          <p:nvPr/>
        </p:nvSpPr>
        <p:spPr>
          <a:xfrm>
            <a:off x="666733" y="3789816"/>
            <a:ext cx="5238619" cy="3000375"/>
          </a:xfrm>
          <a:prstGeom prst="roundRect">
            <a:avLst>
              <a:gd name="adj" fmla="val 5079"/>
            </a:avLst>
          </a:prstGeom>
          <a:solidFill>
            <a:srgbClr val="FFFFFF">
              <a:alpha val="5000"/>
            </a:srgbClr>
          </a:solidFill>
          <a:ln w="8255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EA79A8B4-8369-68B3-3492-DA353BEE627D}"/>
              </a:ext>
            </a:extLst>
          </p:cNvPr>
          <p:cNvSpPr/>
          <p:nvPr/>
        </p:nvSpPr>
        <p:spPr>
          <a:xfrm>
            <a:off x="866753" y="3993575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D738F2-49D0-2B4B-5F44-5CB84D4BA0CA}"/>
              </a:ext>
            </a:extLst>
          </p:cNvPr>
          <p:cNvSpPr txBox="1"/>
          <p:nvPr/>
        </p:nvSpPr>
        <p:spPr>
          <a:xfrm>
            <a:off x="866753" y="3993576"/>
            <a:ext cx="304792" cy="304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A61A26-558D-AE70-0447-57D0A20BD1EF}"/>
              </a:ext>
            </a:extLst>
          </p:cNvPr>
          <p:cNvSpPr txBox="1"/>
          <p:nvPr/>
        </p:nvSpPr>
        <p:spPr>
          <a:xfrm>
            <a:off x="1285842" y="3893743"/>
            <a:ext cx="1114344" cy="3976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535"/>
              </a:lnSpc>
            </a:pPr>
            <a:r>
              <a:rPr lang="en-US" sz="1400" b="1" dirty="0">
                <a:solidFill>
                  <a:srgbClr val="1284BA"/>
                </a:solidFill>
                <a:latin typeface="Source Code Pro"/>
              </a:rPr>
              <a:t>Main Menu</a:t>
            </a:r>
            <a:endParaRPr sz="1554" b="1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6055F7D5-EFCB-CC71-C395-FB04082B1A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738" y="4057389"/>
            <a:ext cx="228594" cy="177164"/>
          </a:xfrm>
          <a:prstGeom prst="rect">
            <a:avLst/>
          </a:prstGeom>
        </p:spPr>
      </p:pic>
      <p:sp>
        <p:nvSpPr>
          <p:cNvPr id="51" name="Rounded Rectangle 16">
            <a:extLst>
              <a:ext uri="{FF2B5EF4-FFF2-40B4-BE49-F238E27FC236}">
                <a16:creationId xmlns:a16="http://schemas.microsoft.com/office/drawing/2014/main" id="{4913E13E-9847-AAE4-485C-65A8F6F789C0}"/>
              </a:ext>
            </a:extLst>
          </p:cNvPr>
          <p:cNvSpPr/>
          <p:nvPr/>
        </p:nvSpPr>
        <p:spPr>
          <a:xfrm>
            <a:off x="866753" y="4444563"/>
            <a:ext cx="4838579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EDC627-6BB3-D082-9696-F30B17FB28AB}"/>
              </a:ext>
            </a:extLst>
          </p:cNvPr>
          <p:cNvSpPr/>
          <p:nvPr/>
        </p:nvSpPr>
        <p:spPr>
          <a:xfrm>
            <a:off x="876278" y="4454090"/>
            <a:ext cx="4819529" cy="2095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2A50A7AA-BFEC-0A0B-192D-036691F6597A}"/>
              </a:ext>
            </a:extLst>
          </p:cNvPr>
          <p:cNvSpPr/>
          <p:nvPr/>
        </p:nvSpPr>
        <p:spPr>
          <a:xfrm>
            <a:off x="6295867" y="3806442"/>
            <a:ext cx="5229094" cy="3000375"/>
          </a:xfrm>
          <a:prstGeom prst="roundRect">
            <a:avLst>
              <a:gd name="adj" fmla="val 5079"/>
            </a:avLst>
          </a:prstGeom>
          <a:solidFill>
            <a:srgbClr val="FFFFFF">
              <a:alpha val="5000"/>
            </a:srgbClr>
          </a:solidFill>
          <a:ln w="8255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28">
            <a:extLst>
              <a:ext uri="{FF2B5EF4-FFF2-40B4-BE49-F238E27FC236}">
                <a16:creationId xmlns:a16="http://schemas.microsoft.com/office/drawing/2014/main" id="{1C6724B1-01BE-C304-3603-720358E102CD}"/>
              </a:ext>
            </a:extLst>
          </p:cNvPr>
          <p:cNvSpPr/>
          <p:nvPr/>
        </p:nvSpPr>
        <p:spPr>
          <a:xfrm>
            <a:off x="6495887" y="3952012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686A54-3479-5E5E-FE4B-B50B0F35DF71}"/>
              </a:ext>
            </a:extLst>
          </p:cNvPr>
          <p:cNvSpPr txBox="1"/>
          <p:nvPr/>
        </p:nvSpPr>
        <p:spPr>
          <a:xfrm>
            <a:off x="6495887" y="3952016"/>
            <a:ext cx="30479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E8B7DE-03F4-7D53-ADF4-3B00C699D88C}"/>
              </a:ext>
            </a:extLst>
          </p:cNvPr>
          <p:cNvSpPr txBox="1"/>
          <p:nvPr/>
        </p:nvSpPr>
        <p:spPr>
          <a:xfrm>
            <a:off x="6890038" y="3852183"/>
            <a:ext cx="2295757" cy="3976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535"/>
              </a:lnSpc>
            </a:pPr>
            <a:r>
              <a:rPr lang="en-US" sz="1400" b="1" dirty="0">
                <a:solidFill>
                  <a:srgbClr val="1284BA"/>
                </a:solidFill>
                <a:latin typeface="Source Code Pro"/>
              </a:rPr>
              <a:t>Success Confirmation</a:t>
            </a:r>
            <a:endParaRPr sz="1554" b="1" dirty="0">
              <a:solidFill>
                <a:srgbClr val="FFFFFF"/>
              </a:solidFill>
              <a:latin typeface="Roboto"/>
            </a:endParaRP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77BFDA2F-9213-9768-CF0E-9230E9CF45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6347" y="3990635"/>
            <a:ext cx="228594" cy="194309"/>
          </a:xfrm>
          <a:prstGeom prst="rect">
            <a:avLst/>
          </a:prstGeom>
        </p:spPr>
      </p:pic>
      <p:sp>
        <p:nvSpPr>
          <p:cNvPr id="66" name="Rounded Rectangle 32">
            <a:extLst>
              <a:ext uri="{FF2B5EF4-FFF2-40B4-BE49-F238E27FC236}">
                <a16:creationId xmlns:a16="http://schemas.microsoft.com/office/drawing/2014/main" id="{B498EC6F-7CBB-D975-2DA9-38C53A93C22D}"/>
              </a:ext>
            </a:extLst>
          </p:cNvPr>
          <p:cNvSpPr/>
          <p:nvPr/>
        </p:nvSpPr>
        <p:spPr>
          <a:xfrm>
            <a:off x="6495887" y="4494441"/>
            <a:ext cx="4829054" cy="2114550"/>
          </a:xfrm>
          <a:prstGeom prst="roundRect">
            <a:avLst>
              <a:gd name="adj" fmla="val 720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D0198B5-2D05-BF9C-92D6-5E7E357A4F52}"/>
              </a:ext>
            </a:extLst>
          </p:cNvPr>
          <p:cNvSpPr/>
          <p:nvPr/>
        </p:nvSpPr>
        <p:spPr>
          <a:xfrm>
            <a:off x="6505412" y="4503968"/>
            <a:ext cx="4810004" cy="2095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618E7550-565C-2507-942C-B816F6822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412" y="4517702"/>
            <a:ext cx="4799018" cy="20817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5DF76D9-D921-CCEF-AF6B-34D87DEDA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184" y="1296606"/>
            <a:ext cx="4655261" cy="20369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3C035A3-5166-0CB8-981F-C470341F8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184" y="4454090"/>
            <a:ext cx="4638851" cy="2117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C81DB0-8460-FD23-BE34-084841F95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6015" y="1870356"/>
            <a:ext cx="3970364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3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388610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Ensuring Accuracy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73355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876839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73355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 dirty="0">
                <a:solidFill>
                  <a:srgbClr val="1284BA"/>
                </a:solidFill>
                <a:latin typeface="Source Code Pro"/>
              </a:rPr>
              <a:t>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2190749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</a:t>
            </a:r>
            <a:r>
              <a:rPr sz="1315" b="1">
                <a:solidFill>
                  <a:srgbClr val="1284BA"/>
                </a:solidFill>
                <a:latin typeface="Roboto Flex"/>
              </a:rPr>
              <a:t>100 frames/5 seconds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per gesture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2516" y="2524125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Diverse dataset: different hand sizes, skin tones, lighting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42900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35722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2516" y="342900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16" y="388620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Noise reduction &amp; normalization using </a:t>
            </a:r>
            <a:r>
              <a:rPr sz="1315" b="1">
                <a:solidFill>
                  <a:srgbClr val="1284BA"/>
                </a:solidFill>
                <a:latin typeface="Roboto Flex"/>
              </a:rPr>
              <a:t>OpenCV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45770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460098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445770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Evaluation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491490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</a:t>
            </a:r>
            <a:r>
              <a:rPr sz="1315" b="1">
                <a:solidFill>
                  <a:srgbClr val="1284BA"/>
                </a:solidFill>
                <a:latin typeface="Roboto Flex"/>
              </a:rPr>
              <a:t>Accuracy: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Correct predictions percentage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16" y="525780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</a:t>
            </a:r>
            <a:r>
              <a:rPr sz="1315" b="1">
                <a:solidFill>
                  <a:srgbClr val="1284BA"/>
                </a:solidFill>
                <a:latin typeface="Roboto Flex"/>
              </a:rPr>
              <a:t>Latency: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Real-time responsiveness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16" y="5619750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26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• </a:t>
            </a:r>
            <a:r>
              <a:rPr sz="1315" b="1">
                <a:solidFill>
                  <a:srgbClr val="FF862F"/>
                </a:solidFill>
                <a:latin typeface="Roboto Flex"/>
              </a:rPr>
              <a:t>Precision &amp; Recall: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Cross-validated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9194" y="1285875"/>
            <a:ext cx="5295767" cy="5172074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29194" y="5934075"/>
            <a:ext cx="5295767" cy="52387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075" y="6138862"/>
            <a:ext cx="39051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FFFFFF"/>
                </a:solidFill>
                <a:latin typeface="Roboto Flex"/>
              </a:rPr>
              <a:t>Performance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7119"/>
            <a:ext cx="2175532" cy="5658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dirty="0">
                <a:solidFill>
                  <a:srgbClr val="1284BA"/>
                </a:solidFill>
                <a:latin typeface="Source Code Pro"/>
              </a:rPr>
              <a:t>Future Work</a:t>
            </a:r>
            <a:endParaRPr sz="2392" b="1" dirty="0">
              <a:solidFill>
                <a:srgbClr val="1284BA"/>
              </a:solidFill>
              <a:latin typeface="Source Code Pro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66733" y="1571625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1694621"/>
            <a:ext cx="266693" cy="249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1571625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Mobile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16" y="1981199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Develop mobile app using </a:t>
            </a:r>
            <a:r>
              <a:rPr sz="1315" b="1">
                <a:solidFill>
                  <a:srgbClr val="1284BA"/>
                </a:solidFill>
                <a:latin typeface="Roboto Flex"/>
              </a:rPr>
              <a:t>Flutter/React Native</a:t>
            </a:r>
            <a:r>
              <a:rPr sz="1315" b="0">
                <a:solidFill>
                  <a:srgbClr val="374151"/>
                </a:solidFill>
                <a:latin typeface="Roboto Flex"/>
              </a:rPr>
              <a:t> for portability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83845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297304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16" y="283845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16" y="3248024"/>
            <a:ext cx="52957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Create browser-based version for wider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79094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3925542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52516" y="3790949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1284BA"/>
                </a:solidFill>
                <a:latin typeface="Source Code Pro"/>
              </a:rPr>
              <a:t>Expanded Vocabulary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16" y="4200525"/>
            <a:ext cx="5295767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Increase dataset to cover larger variety of words and signs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5057775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30" y="5203963"/>
            <a:ext cx="266693" cy="2029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52516" y="5041919"/>
            <a:ext cx="1590435" cy="4031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lang="en-US" sz="1554" b="1" dirty="0">
                <a:solidFill>
                  <a:srgbClr val="1284BA"/>
                </a:solidFill>
                <a:latin typeface="Source Code Pro"/>
              </a:rPr>
              <a:t>Audio Output</a:t>
            </a:r>
            <a:endParaRPr sz="1554" b="1" dirty="0">
              <a:solidFill>
                <a:srgbClr val="1284BA"/>
              </a:solidFill>
              <a:latin typeface="Source Code Pr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2516" y="5618553"/>
            <a:ext cx="5295767" cy="3262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rPr lang="en-US" sz="1400" dirty="0"/>
              <a:t>Improves text-to-speech features for </a:t>
            </a:r>
            <a:r>
              <a:rPr lang="en-US" sz="1400" b="1" dirty="0">
                <a:solidFill>
                  <a:schemeClr val="accent6"/>
                </a:solidFill>
              </a:rPr>
              <a:t>to-way communication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7" y="2133599"/>
            <a:ext cx="4209944" cy="2787536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017" y="5924549"/>
            <a:ext cx="4209944" cy="5333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67413" y="6076950"/>
            <a:ext cx="39051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</a:rPr>
              <a:t>Future Deployment Platforms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14300"/>
            <a:ext cx="160015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284BA"/>
                </a:solidFill>
                <a:latin typeface="Source Code Pro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15265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030" y="228724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2516" y="2152650"/>
            <a:ext cx="529576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Roboto Flex"/>
              </a:rPr>
              <a:t>Successfully developed </a:t>
            </a:r>
            <a:r>
              <a:rPr sz="1435" b="1">
                <a:solidFill>
                  <a:srgbClr val="1284BA"/>
                </a:solidFill>
                <a:latin typeface="Roboto Flex"/>
              </a:rPr>
              <a:t>AI-driven assistive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93369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30" y="3072640"/>
            <a:ext cx="266693" cy="217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2516" y="2933699"/>
            <a:ext cx="5295767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Roboto Flex"/>
              </a:rPr>
              <a:t>Provides </a:t>
            </a:r>
            <a:r>
              <a:rPr sz="1435" b="1">
                <a:solidFill>
                  <a:srgbClr val="1284BA"/>
                </a:solidFill>
                <a:latin typeface="Roboto Flex"/>
              </a:rPr>
              <a:t>low-cost, scalable, reliable</a:t>
            </a:r>
            <a:r>
              <a:rPr sz="1435" b="0">
                <a:solidFill>
                  <a:srgbClr val="1F2937"/>
                </a:solidFill>
                <a:latin typeface="Roboto Flex"/>
              </a:rPr>
              <a:t> alternative to sensor gloves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905249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030" y="4039842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16" y="3905249"/>
            <a:ext cx="5295767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Roboto Flex"/>
              </a:rPr>
              <a:t>Bridges communication gap between </a:t>
            </a:r>
            <a:r>
              <a:rPr sz="1435" b="1">
                <a:solidFill>
                  <a:srgbClr val="1284BA"/>
                </a:solidFill>
                <a:latin typeface="Roboto Flex"/>
              </a:rPr>
              <a:t>hearing/speech-impaired</a:t>
            </a:r>
            <a:r>
              <a:rPr sz="1435" b="0">
                <a:solidFill>
                  <a:srgbClr val="1F2937"/>
                </a:solidFill>
                <a:latin typeface="Roboto Flex"/>
              </a:rPr>
              <a:t> community and society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876800"/>
            <a:ext cx="495287" cy="561974"/>
          </a:xfrm>
          <a:prstGeom prst="roundRect">
            <a:avLst>
              <a:gd name="adj" fmla="val 30769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30" y="5030235"/>
            <a:ext cx="266693" cy="188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4876800"/>
            <a:ext cx="5295767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Roboto Flex"/>
              </a:rPr>
              <a:t>Demonstrates high performance using </a:t>
            </a:r>
            <a:r>
              <a:rPr sz="1435" b="1">
                <a:solidFill>
                  <a:srgbClr val="FF862F"/>
                </a:solidFill>
                <a:latin typeface="Roboto Flex"/>
              </a:rPr>
              <a:t>MediaPipe &amp; Random Forest</a:t>
            </a:r>
            <a:r>
              <a:rPr sz="1435" b="0">
                <a:solidFill>
                  <a:srgbClr val="1F2937"/>
                </a:solidFill>
                <a:latin typeface="Roboto Flex"/>
              </a:rPr>
              <a:t> in 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017" y="1266824"/>
            <a:ext cx="4209944" cy="523874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017" y="5619750"/>
            <a:ext cx="4209944" cy="89535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84BA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5512" y="5810249"/>
            <a:ext cx="382895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512" y="6095999"/>
            <a:ext cx="382895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Roboto Flex"/>
              </a:rPr>
              <a:t>Sign Language Detection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534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Roboto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mahmoud dalgamoni</cp:lastModifiedBy>
  <cp:revision>6</cp:revision>
  <dcterms:created xsi:type="dcterms:W3CDTF">2013-01-27T09:14:16Z</dcterms:created>
  <dcterms:modified xsi:type="dcterms:W3CDTF">2026-05-13T00:21:12Z</dcterms:modified>
  <cp:category/>
</cp:coreProperties>
</file>